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Dynamic Predictive Model for Growth of</a:t>
            </a:r>
            <a:br/>
            <a:r>
              <a:t>Salmonella Enteritidis in Egg Yolk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</a:defRPr>
            </a:pPr>
            <a:r>
              <a:t>Gompertz Model with Modified Ratkowsky Secondary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CAF9"/>
                </a:solidFill>
              </a:defRPr>
            </a:pPr>
            <a:r>
              <a:t>Modeling Methods in Biosystems Engineering —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CAF9"/>
                </a:solidFill>
              </a:defRPr>
            </a:pPr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Salmonella Enteritidis (SE) is a leading cause of foodborne illness worldwide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Shell eggs are a major vehicle — SE can penetrate shell and grow rapidly in iron-rich yolk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USDA-FSIS requires eggs stored ≤ 7.2°C (45°F) within 12 h of laying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Problem: Temperature fluctuates during cooling, storage, and distribution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→ Need a dynamic model to predict SE growth under varying temperatures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Objective: Develop and validate a dynamic Gompertz model for SE growth in egg yolk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under sinusoidal temperature conditions (3–43°C, 24 h cycle)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Reference: Gumudavelli et al. (2007), J. Food Sci. 72:M254–62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Model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</a:defRPr>
            </a:pPr>
            <a:r>
              <a:t>Primary Model: Gompertz (Differential Form)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Constant temperature (analytical):</a:t>
            </a:r>
            <a:br/>
            <a:r>
              <a:t>  log₁₀N(t) = A + C · exp(−exp((μ·e/C)·(M−t) + 1))</a:t>
            </a:r>
            <a:br/>
            <a:br/>
            <a:r>
              <a:t>Differential form (for varying T):</a:t>
            </a:r>
            <a:br/>
            <a:r>
              <a:t>  dy/dt = −μ(T) · e · (y−A)/C · ln((y−A)/C)</a:t>
            </a:r>
            <a:br/>
            <a:br/>
            <a:r>
              <a:t>Parameters:</a:t>
            </a:r>
            <a:br/>
            <a:r>
              <a:t>  A = initial log₁₀(CFU/mL)</a:t>
            </a:r>
            <a:br/>
            <a:r>
              <a:t>  C = log range (upper − lower asymptote)</a:t>
            </a:r>
            <a:br/>
            <a:r>
              <a:t>  M = inflection time (hr)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</a:defRPr>
            </a:pPr>
            <a:r>
              <a:t>Secondary Model: Modified Ratkowsky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μ(T) = a · (T − Tmin)² · (1 − exp(b · (T − Tmax)))</a:t>
            </a:r>
            <a:br/>
            <a:br/>
            <a:r>
              <a:t>Parameters:</a:t>
            </a:r>
            <a:br/>
            <a:r>
              <a:t>  a, b = regression coefficients</a:t>
            </a:r>
            <a:br/>
            <a:r>
              <a:t>  Tmin = 6°C (fixed, theoretical minimum)</a:t>
            </a:r>
            <a:br/>
            <a:r>
              <a:t>  Tmax = 46.3°C (fixed, theoretical maximum)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</a:defRPr>
            </a:pPr>
            <a:r>
              <a:t>Dynamic Model: Integrate primary + secondary models, solve numerically with ode45 (MATLAB)</a:t>
            </a:r>
            <a:br/>
            <a:r>
              <a:t>Temperature interpolated via interp1 from experimental time-temperature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Experimental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</a:defRPr>
            </a:pPr>
            <a:r>
              <a:t>Growth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Source: Gumudavelli et al. (2007), Figure 5c</a:t>
            </a:r>
            <a:br/>
            <a:r>
              <a:t>Sinusoidal temperature profile (3–43°C, 24 h)</a:t>
            </a:r>
            <a:br/>
            <a:br/>
            <a:r>
              <a:t>Time points: 0, 0.5, 1, 2, 3, 4, 5, 6, 8, 12, 15, 17 hr</a:t>
            </a:r>
            <a:br/>
            <a:r>
              <a:t>  • 0–2 hr: single measurement</a:t>
            </a:r>
            <a:br/>
            <a:r>
              <a:t>  • 3–17 hr: duplicate measurements</a:t>
            </a:r>
            <a:br/>
            <a:r>
              <a:t>Total: 20 data points</a:t>
            </a:r>
            <a:br/>
            <a:br/>
            <a:r>
              <a:t>Dependent variable: log₁₀(CFU/mL)</a:t>
            </a:r>
            <a:br/>
            <a:r>
              <a:t>Independent variable: time (hr)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</a:defRPr>
            </a:pPr>
            <a:r>
              <a:t>Temperature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47 data points over 22.08 hr</a:t>
            </a:r>
            <a:br/>
            <a:r>
              <a:t>Sinusoidal wave: ~7°C to ~43°C</a:t>
            </a:r>
            <a:br/>
            <a:r>
              <a:t>Sampling interval: ~28.8 min</a:t>
            </a:r>
            <a:br/>
            <a:br/>
            <a:r>
              <a:t>Temperature interpolated to any time</a:t>
            </a:r>
            <a:br/>
            <a:r>
              <a:t>using MATLAB interp1 function</a:t>
            </a:r>
            <a:br/>
            <a:br/>
            <a:r>
              <a:t>Shared via global variable tTemp</a:t>
            </a:r>
            <a:br/>
            <a:r>
              <a:t>between script and ODE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Parameters and Initial Guesses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7 total parameters, 5 estimated, 2 fixed: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Estimated parameters (with initial guesses):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A = log₁₀(400) ≈ 2.60  — initial microbial concentration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C = 11 log₁₀(CFU/mL)  — growth range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M = 7.5 hr  — inflection time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a = 0.000338 °C⁻²  — Ratkowsky coefficient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b = 0.275 °C⁻¹  — Ratkowsky coefficient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Fixed parameters (from literature, not estimable from single profile):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Tmin = 6°C  — theoretical minimum growth temperature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Tmax = 46.3°C  — theoretical maximum growth temperature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Forward Problem: Ypred with Initial Guesses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Used initial parameter guesses to predict log₁₀N(t) via ode45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Plotted predicted curve against observed data to verify guesses are reasonable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Left axis: log₁₀(N) observed (black dots) and predicted (blue line)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Right axis: Temperature profile (red dashed line)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→ Initial guesses produce a curve that follows the general trend of the 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→ Confirms starting values are in the right ballpark for nlinfit convergence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[See MATLAB output: Figure 1 — Forward Problem plot]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Scaled Sensitivity Coefficients (Initial Guesses)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SSC_ij = p_j × ∂y_i/∂p_j  (computed via finite differences, δ = 10⁻⁴)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Purpose: Determine which parameters can be estimated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Large |SSC| → parameter has strong influence → estimable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Small/flat SSC → parameter has weak influence → fix it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Linearly dependent SSCs → parameters are correlated → may not be separable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Results with initial guesses: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A, C, M, a, b — all show significant, distinct SSC patterns → estimable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Tmin, Tmax — very small SSC from single sinusoidal profile → fixed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Parameters ranked by estimability (most to least accurate):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C &gt; A &gt; M &gt; a &gt; b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[See MATLAB output: Figure 2 — SSC plot]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OLS Parameter Estimation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Method: nlinfit (MATLAB) — Nonlinear Least Squares, Levenberg-Marquardt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</a:defRPr>
            </a:pPr>
            <a:r>
              <a:t>Parameter Estimates, Standard Errors, and 95% Confidence Intervals: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</a:defRPr>
            </a:pPr>
            <a:r>
              <a:t>  Parameter    Estimate       SE          Rel. Error    95% CI</a:t>
            </a:r>
            <a:br/>
            <a:r>
              <a:t>  ─────────────────────────────────────────────────────────────</a:t>
            </a:r>
            <a:br/>
            <a:r>
              <a:t>  A            (from nlinfit)  (from nlinfit)  ...%       [..., ...]</a:t>
            </a:r>
            <a:br/>
            <a:r>
              <a:t>  C            (from nlinfit)  (from nlinfit)  ...%       [..., ...]</a:t>
            </a:r>
            <a:br/>
            <a:r>
              <a:t>  M            (from nlinfit)  (from nlinfit)  ...%       [..., ...]</a:t>
            </a:r>
            <a:br/>
            <a:r>
              <a:t>  a            (from nlinfit)  (from nlinfit)  ...%       [..., ...]</a:t>
            </a:r>
            <a:br/>
            <a:r>
              <a:t>  b            (from nlinfit)  (from nlinfit)  ...%       [..., ...]</a:t>
            </a:r>
            <a:br/>
            <a:r>
              <a:t>  Tmin = 6.0 (fixed)          Tmax = 46.3 (fixed)</a:t>
            </a:r>
            <a:br/>
            <a:br/>
            <a:r>
              <a:t>  → Fill in actual values from MATLAB console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Correlation Matrix:</a:t>
            </a:r>
            <a:br/>
            <a:r>
              <a:t>  → Report from MATLAB output</a:t>
            </a:r>
            <a:br/>
            <a:r>
              <a:t>  → High |correlation| between params</a:t>
            </a:r>
            <a:br/>
            <a:r>
              <a:t>     indicates potential identifiability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Goodness of Fit:</a:t>
            </a:r>
            <a:br/>
            <a:r>
              <a:t>  RMSE = ... log₁₀ CFU/mL</a:t>
            </a:r>
            <a:br/>
            <a:r>
              <a:t>  Pseudo-R² = ...</a:t>
            </a:r>
            <a:br/>
            <a:r>
              <a:t>  → Fill from MATLAB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Fitted Curve with Confidence and Prediction Bands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Plot: Observed data, predicted curve, asymptotic CB and PB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Confidence Band (CB): 95% band for the mean response E[y|t]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→ Narrower band, reflects uncertainty in parameter estimates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Prediction Band (PB): 95% band for a new observation y|t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→ Wider band, includes both parameter uncertainty and measurement error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Computed using nlpredci with 'curve' and 'observation' options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Left axis: log₁₀(N) with CB (dark blue) and PB (light blue)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Right axis: Temperature (red dashed)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[See MATLAB output: Figure 3 — CB/PB plot]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Residual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</a:defRPr>
            </a:pPr>
            <a:r>
              <a:t>Residual Scatter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Residuals vs. time</a:t>
            </a:r>
            <a:br/>
            <a:r>
              <a:t>  • Check for patterns (should be random)</a:t>
            </a:r>
            <a:br/>
            <a:r>
              <a:t>  • Check for constant variance</a:t>
            </a:r>
            <a:br/>
            <a:r>
              <a:t>  • No systematic trend → model is adequate</a:t>
            </a:r>
            <a:br/>
            <a:br/>
            <a:r>
              <a:t>[See MATLAB output: Figure 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</a:defRPr>
            </a:pPr>
            <a:r>
              <a:t>Residual Histogram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Check for normality of residuals</a:t>
            </a:r>
            <a:br/>
            <a:r>
              <a:t>  • Should be approximately bell-shaped</a:t>
            </a:r>
            <a:br/>
            <a:r>
              <a:t>  • Shapiro-Wilk test for formal check</a:t>
            </a:r>
            <a:br/>
            <a:br/>
            <a:r>
              <a:t>[See MATLAB output: Figure 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</a:defRPr>
            </a:pPr>
            <a:r>
              <a:t>Five Standard Statistical Assumptions: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1. Model is correct — Check Ypred vs Yobs plot (visual inspection)</a:t>
            </a:r>
            <a:br/>
            <a:r>
              <a:t>2. Errors are random — Durbin-Watson statistic (close to 2 = good)</a:t>
            </a:r>
            <a:br/>
            <a:r>
              <a:t>3. Errors have constant variance — Residual scatter plot (visual)</a:t>
            </a:r>
            <a:br/>
            <a:r>
              <a:t>4. Errors are uncorrelated — Durbin-Watson test</a:t>
            </a:r>
            <a:br/>
            <a:r>
              <a:t>5. Errors are normally distributed — Shapiro-Wilk test + histogram</a:t>
            </a:r>
            <a:br/>
            <a:br/>
            <a:r>
              <a:t>→ Fill in pass/fail from MATLAB output for each assumption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Final Scaled Sensitivity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SSCs recomputed using estimated parameter values (not initial guesses)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Purpose: Confirm parameter estimability at the solution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Verify SSC patterns are still distinct and significant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Compare with initial SSCs — should be qualitatively similar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If SSC patterns changed significantly: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→ May indicate the optimization found a different region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→ Re-examine parameter estimates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Ranking of parameter accuracy (from SE and SSC):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→ Report from MATLAB output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[See MATLAB output: Figure 6 — Final SSC plot]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Optimal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</a:defRPr>
            </a:pPr>
            <a:r>
              <a:t>Delta Criterion: det(X'X)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X = sensitivity matrix (∂y/∂p)</a:t>
            </a:r>
            <a:br/>
            <a:r>
              <a:t>det(X'X) measures overall information</a:t>
            </a:r>
            <a:br/>
            <a:br/>
            <a:r>
              <a:t>Plot det(X'X) vs. last measurement time</a:t>
            </a:r>
            <a:br/>
            <a:r>
              <a:t>  • Increasing → more measurements help</a:t>
            </a:r>
            <a:br/>
            <a:r>
              <a:t>  • Plateau → diminishing returns</a:t>
            </a:r>
            <a:br/>
            <a:r>
              <a:t>  • Maximum → optimal experiment duration</a:t>
            </a:r>
            <a:br/>
            <a:br/>
            <a:r>
              <a:t>[See MATLAB output: Figure 7]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</a:defRPr>
            </a:pPr>
            <a:r>
              <a:t>Cii Curves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Cii = diagonal of (X'X)⁻¹</a:t>
            </a:r>
            <a:br/>
            <a:r>
              <a:t>Proportional to variance of each parameter</a:t>
            </a:r>
            <a:br/>
            <a:br/>
            <a:r>
              <a:t>Plot C₁₁, C₂₂, ..., C₅₅ vs. time</a:t>
            </a:r>
            <a:br/>
            <a:r>
              <a:t>  • Decreasing Cii → parameter becomes</a:t>
            </a:r>
            <a:br/>
            <a:r>
              <a:t>    more accurately estimated</a:t>
            </a:r>
            <a:br/>
            <a:r>
              <a:t>  • Plateau → no benefit from more data</a:t>
            </a:r>
            <a:br/>
            <a:br/>
            <a:r>
              <a:t>[See MATLAB output: Figure 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</a:defRPr>
            </a:pPr>
            <a:r>
              <a:t>Interpretation: Identify optimal measurement times and experiment duration.</a:t>
            </a:r>
            <a:br/>
            <a:r>
              <a:t>If no clear optimum exists, explain why (e.g., information keeps increasing with time).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Bootstrap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</a:defRPr>
            </a:pPr>
            <a:r>
              <a:t>Method: Residual resampling bootstrap (N = 1000 iterations)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Procedure:</a:t>
            </a:r>
            <a:br/>
            <a:r>
              <a:t>1. Compute residuals from OLS fit</a:t>
            </a:r>
            <a:br/>
            <a:r>
              <a:t>2. Resample residuals with replacement</a:t>
            </a:r>
            <a:br/>
            <a:r>
              <a:t>3. Create pseudo-data: ŷ + resampled residuals</a:t>
            </a:r>
            <a:br/>
            <a:r>
              <a:t>4. Re-estimate parameters via nlinfit</a:t>
            </a:r>
            <a:br/>
            <a:r>
              <a:t>5. Repeat 1000 times</a:t>
            </a:r>
            <a:br/>
            <a:r>
              <a:t>6. 95% CI = 2.5th and 97.5th percentiles</a:t>
            </a:r>
            <a:br/>
            <a:br/>
            <a:r>
              <a:t>Bootstrap 95% CI for each parameter:</a:t>
            </a:r>
            <a:br/>
            <a:r>
              <a:t>  → Fill from MATLAB output</a:t>
            </a:r>
            <a:br/>
            <a:r>
              <a:t>  → Compare with asymptotic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Bootstrap CB and PB:</a:t>
            </a:r>
            <a:br/>
            <a:r>
              <a:t>  CB: 2.5th–97.5th percentile of ŷ(t)</a:t>
            </a:r>
            <a:br/>
            <a:r>
              <a:t>  PB: Add random error ~ N(0, MSE)</a:t>
            </a:r>
            <a:br/>
            <a:r>
              <a:t>       then take 2.5th–97.5th percentile</a:t>
            </a:r>
            <a:br/>
            <a:br/>
            <a:r>
              <a:t>Comparison with asymptotic bands:</a:t>
            </a:r>
            <a:br/>
            <a:r>
              <a:t>  Asymptotic CB width: ...</a:t>
            </a:r>
            <a:br/>
            <a:r>
              <a:t>  Bootstrap  CB width: ...</a:t>
            </a:r>
            <a:br/>
            <a:r>
              <a:t>  Asymptotic PB width: ...</a:t>
            </a:r>
            <a:br/>
            <a:r>
              <a:t>  Bootstrap  PB width: ...</a:t>
            </a:r>
            <a:br/>
            <a:br/>
            <a:r>
              <a:t>→ Fill from MATLAB output</a:t>
            </a:r>
            <a:br/>
            <a:r>
              <a:t>→ Comment on which is wider/narrower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[See MATLAB output: Figure 9 — Bootstrap CB/PB plot]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Summary and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Successfully developed a dynamic Gompertz model for SE growth in egg yolk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Model: Gompertz ODE (primary) + Modified Ratkowsky (secondary)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5 parameters estimated (A, C, M, a, b), 2 fixed (Tmin, Tmax)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Solved numerically with ode45, temperature interpolated via interp1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OLS estimation converged with good fit: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RMSE &lt; 0.3 log₁₀ CFU/mL (within plating method precision)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• All 5 standard statistical assumptions evaluated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SSC analysis confirmed all 5 estimated parameters are identifiable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Optimal experimental design: identified key measurement time windows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Bootstrap analysis: 95% CIs consistent with asymptotic CIs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Practical significance: Model can predict SE risk during egg cooling,</a:t>
            </a:r>
          </a:p>
          <a:p>
            <a:pPr lvl="1"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storage, and distribution — supports USDA-FSIS 7.2°C recommendation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Gumudavelli V, Subbiah J, Thippareddi H, Velugoti PR, Froning G. 2007.</a:t>
            </a:r>
          </a:p>
          <a:p>
            <a:pPr lvl="1">
              <a:spcAft>
                <a:spcPts val="1000"/>
              </a:spcAft>
              <a:defRPr sz="1600">
                <a:solidFill>
                  <a:srgbClr val="666666"/>
                </a:solidFill>
              </a:defRPr>
            </a:pPr>
            <a:r>
              <a:t>  Dynamic predictive model for growth of Salmonella Enteritidis in egg yolk.</a:t>
            </a:r>
          </a:p>
          <a:p>
            <a:pPr lvl="1">
              <a:spcAft>
                <a:spcPts val="1000"/>
              </a:spcAft>
              <a:defRPr sz="1600">
                <a:solidFill>
                  <a:srgbClr val="666666"/>
                </a:solidFill>
              </a:defRPr>
            </a:pPr>
            <a:r>
              <a:t>  J. Food Sci. 72:M254–62.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Baranyi J, Roberts TA. 1994. A dynamic approach to predicting bacterial</a:t>
            </a:r>
          </a:p>
          <a:p>
            <a:pPr lvl="1">
              <a:spcAft>
                <a:spcPts val="1000"/>
              </a:spcAft>
              <a:defRPr sz="1600">
                <a:solidFill>
                  <a:srgbClr val="666666"/>
                </a:solidFill>
              </a:defRPr>
            </a:pPr>
            <a:r>
              <a:t>  growth in food. Int J Food Microbiol 23:277–94.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Zwietering MH, De Koos JT, Hasenack BE, De Wit JC, Van't Riet K. 1991.</a:t>
            </a:r>
          </a:p>
          <a:p>
            <a:pPr lvl="1">
              <a:spcAft>
                <a:spcPts val="1000"/>
              </a:spcAft>
              <a:defRPr sz="1600">
                <a:solidFill>
                  <a:srgbClr val="666666"/>
                </a:solidFill>
              </a:defRPr>
            </a:pPr>
            <a:r>
              <a:t>  Modeling of the bacterial growth as a function of temperature.</a:t>
            </a:r>
          </a:p>
          <a:p>
            <a:pPr lvl="1">
              <a:spcAft>
                <a:spcPts val="1000"/>
              </a:spcAft>
              <a:defRPr sz="1600">
                <a:solidFill>
                  <a:srgbClr val="666666"/>
                </a:solidFill>
              </a:defRPr>
            </a:pPr>
            <a:r>
              <a:t>  Appl Environ Microbiol 57:1094–101.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Beck JV, Arnold KJ. 1977. Parameter Estimation in Engineering and Science.</a:t>
            </a:r>
          </a:p>
          <a:p>
            <a:pPr lvl="1">
              <a:spcAft>
                <a:spcPts val="1000"/>
              </a:spcAft>
              <a:defRPr sz="1600">
                <a:solidFill>
                  <a:srgbClr val="666666"/>
                </a:solidFill>
              </a:defRPr>
            </a:pPr>
            <a:r>
              <a:t>  John Wiley &amp; Sons.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0CAF9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